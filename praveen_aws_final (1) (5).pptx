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80c047cc3_0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d80c047cc3_0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d80c047cc3_0_2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755000" cy="5143500"/>
          </a:xfrm>
          <a:prstGeom prst="rect">
            <a:avLst/>
          </a:prstGeom>
          <a:solidFill>
            <a:srgbClr val="0A1520"/>
          </a:solidFill>
          <a:ln cap="flat" cmpd="sng" w="12700">
            <a:solidFill>
              <a:srgbClr val="0A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65760" y="82296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65760" y="1444752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r>
              <a:rPr b="1" i="0" lang="en-US" sz="30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 Data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365760" y="2212848"/>
            <a:ext cx="3200400" cy="0"/>
          </a:xfrm>
          <a:prstGeom prst="straightConnector1">
            <a:avLst/>
          </a:prstGeom>
          <a:noFill/>
          <a:ln cap="flat" cmpd="sng" w="1905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365760" y="233172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End-to-end data engineering on AWS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310896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Praveen Kumar Mu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thukaruppan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65760" y="3401568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314600" y="3172051"/>
            <a:ext cx="1280100" cy="210300"/>
          </a:xfrm>
          <a:prstGeom prst="roundRect">
            <a:avLst>
              <a:gd fmla="val 16667" name="adj"/>
            </a:avLst>
          </a:prstGeom>
          <a:solidFill>
            <a:srgbClr val="1A305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314600" y="3172051"/>
            <a:ext cx="54900" cy="2103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424327" y="3172051"/>
            <a:ext cx="113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777628" y="3172051"/>
            <a:ext cx="1280100" cy="210300"/>
          </a:xfrm>
          <a:prstGeom prst="roundRect">
            <a:avLst>
              <a:gd fmla="val 16667" name="adj"/>
            </a:avLst>
          </a:prstGeom>
          <a:solidFill>
            <a:srgbClr val="1A305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777628" y="3172051"/>
            <a:ext cx="54900" cy="2103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887355" y="3172051"/>
            <a:ext cx="113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Kinesis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314600" y="3500467"/>
            <a:ext cx="1280100" cy="210300"/>
          </a:xfrm>
          <a:prstGeom prst="roundRect">
            <a:avLst>
              <a:gd fmla="val 16667" name="adj"/>
            </a:avLst>
          </a:prstGeom>
          <a:solidFill>
            <a:srgbClr val="1A305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5314600" y="3500467"/>
            <a:ext cx="54900" cy="2103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5424327" y="3500467"/>
            <a:ext cx="113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Lambda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777628" y="3500467"/>
            <a:ext cx="1280100" cy="210300"/>
          </a:xfrm>
          <a:prstGeom prst="roundRect">
            <a:avLst>
              <a:gd fmla="val 16667" name="adj"/>
            </a:avLst>
          </a:prstGeom>
          <a:solidFill>
            <a:srgbClr val="1A305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6777628" y="3500467"/>
            <a:ext cx="54900" cy="2103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6887355" y="3500467"/>
            <a:ext cx="113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DynamoDB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314600" y="3828883"/>
            <a:ext cx="1280100" cy="210300"/>
          </a:xfrm>
          <a:prstGeom prst="roundRect">
            <a:avLst>
              <a:gd fmla="val 16667" name="adj"/>
            </a:avLst>
          </a:prstGeom>
          <a:solidFill>
            <a:srgbClr val="1A3050"/>
          </a:solidFill>
          <a:ln cap="flat" cmpd="sng" w="12700">
            <a:solidFill>
              <a:srgbClr val="4CAF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5314600" y="3828883"/>
            <a:ext cx="54900" cy="210300"/>
          </a:xfrm>
          <a:prstGeom prst="rect">
            <a:avLst/>
          </a:prstGeom>
          <a:solidFill>
            <a:srgbClr val="4CA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5424327" y="3828883"/>
            <a:ext cx="113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777628" y="3828883"/>
            <a:ext cx="1280100" cy="210300"/>
          </a:xfrm>
          <a:prstGeom prst="roundRect">
            <a:avLst>
              <a:gd fmla="val 16667" name="adj"/>
            </a:avLst>
          </a:prstGeom>
          <a:solidFill>
            <a:srgbClr val="1A305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6777628" y="3828883"/>
            <a:ext cx="54900" cy="2103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887355" y="3828883"/>
            <a:ext cx="113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Glue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314600" y="4157299"/>
            <a:ext cx="1280100" cy="210300"/>
          </a:xfrm>
          <a:prstGeom prst="roundRect">
            <a:avLst>
              <a:gd fmla="val 16667" name="adj"/>
            </a:avLst>
          </a:prstGeom>
          <a:solidFill>
            <a:srgbClr val="1A305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5314600" y="4157299"/>
            <a:ext cx="54900" cy="2103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5424327" y="4157299"/>
            <a:ext cx="113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Redshift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777628" y="4157299"/>
            <a:ext cx="1280100" cy="210300"/>
          </a:xfrm>
          <a:prstGeom prst="roundRect">
            <a:avLst>
              <a:gd fmla="val 16667" name="adj"/>
            </a:avLst>
          </a:prstGeom>
          <a:solidFill>
            <a:srgbClr val="1A3050"/>
          </a:solidFill>
          <a:ln cap="flat" cmpd="sng" w="12700">
            <a:solidFill>
              <a:srgbClr val="4CAF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6777628" y="4157299"/>
            <a:ext cx="54900" cy="210300"/>
          </a:xfrm>
          <a:prstGeom prst="rect">
            <a:avLst/>
          </a:prstGeom>
          <a:solidFill>
            <a:srgbClr val="4CA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887355" y="4157299"/>
            <a:ext cx="113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QuickSight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314600" y="4485715"/>
            <a:ext cx="1280100" cy="210300"/>
          </a:xfrm>
          <a:prstGeom prst="roundRect">
            <a:avLst>
              <a:gd fmla="val 16667" name="adj"/>
            </a:avLst>
          </a:prstGeom>
          <a:solidFill>
            <a:srgbClr val="1A3050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314600" y="4485715"/>
            <a:ext cx="54900" cy="210300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5424327" y="4485715"/>
            <a:ext cx="113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777628" y="4485715"/>
            <a:ext cx="1280100" cy="210300"/>
          </a:xfrm>
          <a:prstGeom prst="roundRect">
            <a:avLst>
              <a:gd fmla="val 16667" name="adj"/>
            </a:avLst>
          </a:prstGeom>
          <a:solidFill>
            <a:srgbClr val="1A3050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777628" y="4485715"/>
            <a:ext cx="54900" cy="210300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887355" y="4485715"/>
            <a:ext cx="113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314600" y="4814131"/>
            <a:ext cx="1280100" cy="210300"/>
          </a:xfrm>
          <a:prstGeom prst="roundRect">
            <a:avLst>
              <a:gd fmla="val 16667" name="adj"/>
            </a:avLst>
          </a:prstGeom>
          <a:solidFill>
            <a:srgbClr val="1A305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5314600" y="4814131"/>
            <a:ext cx="54900" cy="2103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424327" y="4814131"/>
            <a:ext cx="113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EventBridge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777628" y="4814131"/>
            <a:ext cx="1280100" cy="210300"/>
          </a:xfrm>
          <a:prstGeom prst="roundRect">
            <a:avLst>
              <a:gd fmla="val 16667" name="adj"/>
            </a:avLst>
          </a:prstGeom>
          <a:solidFill>
            <a:srgbClr val="1A305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777628" y="4814131"/>
            <a:ext cx="54900" cy="2103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887355" y="4814131"/>
            <a:ext cx="113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Fns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800" y="42850"/>
            <a:ext cx="2722250" cy="228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320040" y="164592"/>
            <a:ext cx="8503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 &amp; Business Use Case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320040" y="56692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Why this pipeline was built — the challenges we set out to solve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274320" y="896112"/>
            <a:ext cx="2743200" cy="1389888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274320" y="896112"/>
            <a:ext cx="2743200" cy="54864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02336" y="969264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Data Scattered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02336" y="1316736"/>
            <a:ext cx="24688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No unified view across transactions, customers, products — cross-domain analytics was impossible.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218688" y="896112"/>
            <a:ext cx="2743200" cy="1389888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218688" y="896112"/>
            <a:ext cx="2743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3346704" y="969264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No Real-Time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346704" y="1316736"/>
            <a:ext cx="24688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Fraud signals and high-value order alerts couldn't be acted on in time using batch-only processing.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163056" y="896112"/>
            <a:ext cx="2743200" cy="1389888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163056" y="896112"/>
            <a:ext cx="27432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6291072" y="969264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Manual Pipelines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291072" y="1316736"/>
            <a:ext cx="24688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CSV uploads, manual Glue runs and no alerting meant delays and errors in reporting.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20040" y="242316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BUSINESS USE CASES THIS PIPELINE ENABLES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74320" y="2779776"/>
            <a:ext cx="4160520" cy="932688"/>
          </a:xfrm>
          <a:prstGeom prst="rect">
            <a:avLst/>
          </a:prstGeom>
          <a:solidFill>
            <a:srgbClr val="1A305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274320" y="2779776"/>
            <a:ext cx="54864" cy="93268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02336" y="28346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Revenue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02336" y="3127248"/>
            <a:ext cx="3840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Where is revenue coming from? How is it trending across 8 countries?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709160" y="2779776"/>
            <a:ext cx="4160520" cy="932688"/>
          </a:xfrm>
          <a:prstGeom prst="rect">
            <a:avLst/>
          </a:prstGeom>
          <a:solidFill>
            <a:srgbClr val="1A3050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709160" y="2779776"/>
            <a:ext cx="54864" cy="932688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837176" y="28346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High-Value Alerts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837176" y="3127248"/>
            <a:ext cx="3840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Auto-detect transactions &gt; £990 via SQS + SNS.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74320" y="3831336"/>
            <a:ext cx="4160520" cy="932688"/>
          </a:xfrm>
          <a:prstGeom prst="rect">
            <a:avLst/>
          </a:prstGeom>
          <a:solidFill>
            <a:srgbClr val="1A305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274320" y="3831336"/>
            <a:ext cx="54864" cy="9326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02336" y="38862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Customer 360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02336" y="4178808"/>
            <a:ext cx="3840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Who are our highest-value customers? How do they behave across payment channels?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709160" y="3831336"/>
            <a:ext cx="4160520" cy="932688"/>
          </a:xfrm>
          <a:prstGeom prst="rect">
            <a:avLst/>
          </a:prstGeom>
          <a:solidFill>
            <a:srgbClr val="1A3050"/>
          </a:solidFill>
          <a:ln cap="flat" cmpd="sng" w="12700">
            <a:solidFill>
              <a:srgbClr val="4CAF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709160" y="3831336"/>
            <a:ext cx="54864" cy="932688"/>
          </a:xfrm>
          <a:prstGeom prst="rect">
            <a:avLst/>
          </a:prstGeom>
          <a:solidFill>
            <a:srgbClr val="4CA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837176" y="38862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8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CAF82"/>
                </a:solidFill>
                <a:latin typeface="Calibri"/>
                <a:ea typeface="Calibri"/>
                <a:cs typeface="Calibri"/>
                <a:sym typeface="Calibri"/>
              </a:rPr>
              <a:t>Executive KPI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837176" y="4178808"/>
            <a:ext cx="3840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QuickSight with 7 materialised views — country revenue, shipping, lifetime tiers, product margin.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320040" y="164592"/>
            <a:ext cx="850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Overview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20040" y="566928"/>
            <a:ext cx="8503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High-level data flow across all layers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5" title="Untitled Diagram (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500" y="804550"/>
            <a:ext cx="7724551" cy="420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/>
          <p:nvPr/>
        </p:nvSpPr>
        <p:spPr>
          <a:xfrm>
            <a:off x="320040" y="164592"/>
            <a:ext cx="8503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Streaming Pipeline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20040" y="56692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Real-time ingestion via API Gateway + Kinesis + Lambda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274320" y="896112"/>
            <a:ext cx="4069080" cy="1956816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274320" y="896112"/>
            <a:ext cx="54864" cy="195681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20624" y="1024128"/>
            <a:ext cx="420624" cy="420624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20624" y="10241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14400" y="1042416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20624" y="1499616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Python script POSTs  transactions </a:t>
            </a:r>
            <a:r>
              <a:rPr lang="en-US" sz="950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o API Gateway (POST /transactions). Lambda producer validates all 10 columns and pushes to Kinesis.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20624" y="2468880"/>
            <a:ext cx="1188720" cy="256032"/>
          </a:xfrm>
          <a:prstGeom prst="roundRect">
            <a:avLst>
              <a:gd fmla="val 21429" name="adj"/>
            </a:avLst>
          </a:prstGeom>
          <a:solidFill>
            <a:srgbClr val="00C9B1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20624" y="246888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682496" y="2468880"/>
            <a:ext cx="1188720" cy="256032"/>
          </a:xfrm>
          <a:prstGeom prst="roundRect">
            <a:avLst>
              <a:gd fmla="val 21429" name="adj"/>
            </a:avLst>
          </a:prstGeom>
          <a:solidFill>
            <a:srgbClr val="00C9B1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1682496" y="246888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Lambda producer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2944368" y="2468880"/>
            <a:ext cx="1188720" cy="256032"/>
          </a:xfrm>
          <a:prstGeom prst="roundRect">
            <a:avLst>
              <a:gd fmla="val 21429" name="adj"/>
            </a:avLst>
          </a:prstGeom>
          <a:solidFill>
            <a:srgbClr val="00C9B1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2944368" y="246888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Kinesis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74320" y="2980944"/>
            <a:ext cx="4069080" cy="1956816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274320" y="2980944"/>
            <a:ext cx="54864" cy="195681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20624" y="3108960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20624" y="31089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914400" y="3127248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20624" y="3584448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Lambda consumer reads Kinesis batches, writes each record to DynamoDB</a:t>
            </a:r>
            <a:r>
              <a:rPr lang="en-US" sz="950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20624" y="4553712"/>
            <a:ext cx="1188720" cy="256032"/>
          </a:xfrm>
          <a:prstGeom prst="roundRect">
            <a:avLst>
              <a:gd fmla="val 21429" name="adj"/>
            </a:avLst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20624" y="455371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Lambda consumer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682496" y="4553712"/>
            <a:ext cx="1188720" cy="256032"/>
          </a:xfrm>
          <a:prstGeom prst="roundRect">
            <a:avLst>
              <a:gd fmla="val 21429" name="adj"/>
            </a:avLst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682496" y="455371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DynamoDB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2944368" y="4553712"/>
            <a:ext cx="1188720" cy="256032"/>
          </a:xfrm>
          <a:prstGeom prst="roundRect">
            <a:avLst>
              <a:gd fmla="val 21429" name="adj"/>
            </a:avLst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2944368" y="455371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SQS alert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709160" y="896112"/>
            <a:ext cx="4069080" cy="1956816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709160" y="896112"/>
            <a:ext cx="54864" cy="1956816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855464" y="1024128"/>
            <a:ext cx="420624" cy="420624"/>
          </a:xfrm>
          <a:prstGeom prst="ellipse">
            <a:avLst/>
          </a:prstGeom>
          <a:solidFill>
            <a:srgbClr val="E05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855464" y="10241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349240" y="1042416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855464" y="1499616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SQS triggers Lambda (sqs_to_sns) which publishes to SNS topic (praveen_topic) → email. Failed alerts go to DLQ (praveen-alerts-dlq) after 3 retries.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855464" y="2468880"/>
            <a:ext cx="1188720" cy="256032"/>
          </a:xfrm>
          <a:prstGeom prst="roundRect">
            <a:avLst>
              <a:gd fmla="val 21429" name="adj"/>
            </a:avLst>
          </a:prstGeom>
          <a:solidFill>
            <a:srgbClr val="E05C5C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855464" y="246888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SQS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117336" y="2468880"/>
            <a:ext cx="1188720" cy="256032"/>
          </a:xfrm>
          <a:prstGeom prst="roundRect">
            <a:avLst>
              <a:gd fmla="val 21429" name="adj"/>
            </a:avLst>
          </a:prstGeom>
          <a:solidFill>
            <a:srgbClr val="E05C5C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117336" y="246888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sqs_to_sns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379208" y="2468880"/>
            <a:ext cx="1188720" cy="256032"/>
          </a:xfrm>
          <a:prstGeom prst="roundRect">
            <a:avLst>
              <a:gd fmla="val 21429" name="adj"/>
            </a:avLst>
          </a:prstGeom>
          <a:solidFill>
            <a:srgbClr val="E05C5C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379208" y="246888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SNS → Email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709160" y="2980944"/>
            <a:ext cx="4069080" cy="1956816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4CAF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709160" y="2980944"/>
            <a:ext cx="54864" cy="1956816"/>
          </a:xfrm>
          <a:prstGeom prst="rect">
            <a:avLst/>
          </a:prstGeom>
          <a:solidFill>
            <a:srgbClr val="4CA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4855464" y="3108960"/>
            <a:ext cx="420624" cy="420624"/>
          </a:xfrm>
          <a:prstGeom prst="ellipse">
            <a:avLst/>
          </a:prstGeom>
          <a:solidFill>
            <a:srgbClr val="4CA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4855464" y="31089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349240" y="3127248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855464" y="3584448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DynamoDB </a:t>
            </a:r>
            <a:r>
              <a:rPr lang="en-US" sz="950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used to store the data.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855464" y="4553712"/>
            <a:ext cx="1188720" cy="256032"/>
          </a:xfrm>
          <a:prstGeom prst="roundRect">
            <a:avLst>
              <a:gd fmla="val 21429" name="adj"/>
            </a:avLst>
          </a:prstGeom>
          <a:solidFill>
            <a:srgbClr val="4CAF82"/>
          </a:solidFill>
          <a:ln cap="flat" cmpd="sng" w="12700">
            <a:solidFill>
              <a:srgbClr val="4CAF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855464" y="455371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DynamoDB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>
            <a:off x="320040" y="164592"/>
            <a:ext cx="8503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Medallion Architecture (S3)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20040" y="56692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Bronze → Silver → Gold data quality progression  ·  Gold is the source for Redshift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74325" y="896105"/>
            <a:ext cx="2743200" cy="2376300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274320" y="896112"/>
            <a:ext cx="27432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365760" y="8961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BRONZE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65760" y="114300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Raw 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65760" y="1463040"/>
            <a:ext cx="1463040" cy="237744"/>
          </a:xfrm>
          <a:prstGeom prst="roundRect">
            <a:avLst>
              <a:gd fmla="val 23077" name="adj"/>
            </a:avLst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65760" y="146304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Format: CSV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02336" y="1810512"/>
            <a:ext cx="24871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Raw ingested data exactly as received. No transformations — full fidelity.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7"/>
          <p:cNvCxnSpPr/>
          <p:nvPr/>
        </p:nvCxnSpPr>
        <p:spPr>
          <a:xfrm>
            <a:off x="365760" y="2414016"/>
            <a:ext cx="2560320" cy="0"/>
          </a:xfrm>
          <a:prstGeom prst="straightConnector1">
            <a:avLst/>
          </a:prstGeom>
          <a:noFill/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7"/>
          <p:cNvCxnSpPr/>
          <p:nvPr/>
        </p:nvCxnSpPr>
        <p:spPr>
          <a:xfrm>
            <a:off x="3017520" y="2907792"/>
            <a:ext cx="530352" cy="0"/>
          </a:xfrm>
          <a:prstGeom prst="straightConnector1">
            <a:avLst/>
          </a:prstGeom>
          <a:noFill/>
          <a:ln cap="flat" cmpd="sng" w="19050">
            <a:solidFill>
              <a:srgbClr val="3D5A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7"/>
          <p:cNvSpPr/>
          <p:nvPr/>
        </p:nvSpPr>
        <p:spPr>
          <a:xfrm>
            <a:off x="3273550" y="896105"/>
            <a:ext cx="2743200" cy="2376300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3273552" y="896112"/>
            <a:ext cx="2743200" cy="47548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3364992" y="8961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SILVER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364992" y="114300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Cleansed 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364992" y="1463040"/>
            <a:ext cx="1463040" cy="237744"/>
          </a:xfrm>
          <a:prstGeom prst="roundRect">
            <a:avLst>
              <a:gd fmla="val 23077" name="adj"/>
            </a:avLst>
          </a:prstGeom>
          <a:solidFill>
            <a:srgbClr val="00C9B1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364992" y="146304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Format: Parquet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401568" y="1810512"/>
            <a:ext cx="24871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Cleaned, validated, type-cast data. Columnar format for efficient querying.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7"/>
          <p:cNvCxnSpPr/>
          <p:nvPr/>
        </p:nvCxnSpPr>
        <p:spPr>
          <a:xfrm>
            <a:off x="3364992" y="2414016"/>
            <a:ext cx="2560320" cy="0"/>
          </a:xfrm>
          <a:prstGeom prst="straightConnector1">
            <a:avLst/>
          </a:prstGeom>
          <a:noFill/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7"/>
          <p:cNvCxnSpPr/>
          <p:nvPr/>
        </p:nvCxnSpPr>
        <p:spPr>
          <a:xfrm>
            <a:off x="6016752" y="2907792"/>
            <a:ext cx="530352" cy="0"/>
          </a:xfrm>
          <a:prstGeom prst="straightConnector1">
            <a:avLst/>
          </a:prstGeom>
          <a:noFill/>
          <a:ln cap="flat" cmpd="sng" w="19050">
            <a:solidFill>
              <a:srgbClr val="3D5A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7"/>
          <p:cNvSpPr/>
          <p:nvPr/>
        </p:nvSpPr>
        <p:spPr>
          <a:xfrm>
            <a:off x="6272775" y="896105"/>
            <a:ext cx="2743200" cy="2376300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272784" y="896112"/>
            <a:ext cx="27432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364224" y="89611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364224" y="114300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Business Layer — Source for Redshift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364224" y="1463040"/>
            <a:ext cx="1463040" cy="237744"/>
          </a:xfrm>
          <a:prstGeom prst="roundRect">
            <a:avLst>
              <a:gd fmla="val 23077" name="adj"/>
            </a:avLst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6364224" y="146304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Format: Parquet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400800" y="1810512"/>
            <a:ext cx="24871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Star schema tables stored as Parquet in S3 Gold. Glue JDBC transfers them into Redshift.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7"/>
          <p:cNvCxnSpPr/>
          <p:nvPr/>
        </p:nvCxnSpPr>
        <p:spPr>
          <a:xfrm>
            <a:off x="6364224" y="2414016"/>
            <a:ext cx="2560320" cy="0"/>
          </a:xfrm>
          <a:prstGeom prst="straightConnector1">
            <a:avLst/>
          </a:prstGeom>
          <a:noFill/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320040" y="164592"/>
            <a:ext cx="8503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 Ingestion Layer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20040" y="56692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Initial &amp; Incremental loads via AWS Glue  ·  S3 Gold → Redshift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74325" y="822952"/>
            <a:ext cx="4114800" cy="948900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274320" y="896112"/>
            <a:ext cx="4114800" cy="3474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402336" y="896112"/>
            <a:ext cx="385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INITIAL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02336" y="1316736"/>
            <a:ext cx="3858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Full historical load of all entities on first run.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754875" y="896108"/>
            <a:ext cx="4114800" cy="875700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754880" y="896112"/>
            <a:ext cx="41148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882896" y="896112"/>
            <a:ext cx="3858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INCREMENTAL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882896" y="1316736"/>
            <a:ext cx="3858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Processes only new/changed data since last run.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754880" y="3547872"/>
            <a:ext cx="4114800" cy="1371600"/>
          </a:xfrm>
          <a:prstGeom prst="rect">
            <a:avLst/>
          </a:prstGeom>
          <a:solidFill>
            <a:srgbClr val="1A305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754880" y="3547872"/>
            <a:ext cx="54864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882896" y="360273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After Each Glue Run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882896" y="3977640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5047488" y="3913632"/>
            <a:ext cx="3584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REFRESH each of the 7 Materialised Views in Redshift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882896" y="4306824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5047488" y="4242816"/>
            <a:ext cx="3584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QuickSight → refresh SPICE for all 7 datasets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274320" y="3547872"/>
            <a:ext cx="4114800" cy="1371600"/>
          </a:xfrm>
          <a:prstGeom prst="rect">
            <a:avLst/>
          </a:prstGeom>
          <a:solidFill>
            <a:srgbClr val="1A305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274320" y="3547872"/>
            <a:ext cx="54900" cy="13716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02336" y="3602736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Glue ETL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02336" y="3977640"/>
            <a:ext cx="91500" cy="91500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566928" y="3913632"/>
            <a:ext cx="358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Bronze CSV → Silver Parquet → Gold Parquet (star schema)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02336" y="4306824"/>
            <a:ext cx="91500" cy="91500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66928" y="4242816"/>
            <a:ext cx="358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 Gold stores fact/dim tables ready for Redshift 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320040" y="164592"/>
            <a:ext cx="8503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Redshift Star Schema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320040" y="56692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S3 Gold → Redshift (praveen schema)  ·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9" title="schema_fact_transactions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7075"/>
            <a:ext cx="8853299" cy="40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320040" y="164592"/>
            <a:ext cx="8503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Insights — Explained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320040" y="56692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What each materialised view tells us about the business  ·  alert threshold: order_value &gt; £990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256024" y="877825"/>
            <a:ext cx="1884600" cy="1115700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256024" y="877825"/>
            <a:ext cx="1884600" cy="549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256024" y="969266"/>
            <a:ext cx="1884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£10.18M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256024" y="1481333"/>
            <a:ext cx="188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256024" y="1719078"/>
            <a:ext cx="188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25,000 transactions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2267425" y="905200"/>
            <a:ext cx="2102400" cy="1115700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2267426" y="905188"/>
            <a:ext cx="1884600" cy="549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2267425" y="996641"/>
            <a:ext cx="2102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13,432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2267425" y="1508708"/>
            <a:ext cx="210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Unique Customers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2267425" y="1746453"/>
            <a:ext cx="210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from 8 countries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501224" y="905175"/>
            <a:ext cx="2102100" cy="1115700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4501224" y="873188"/>
            <a:ext cx="2102100" cy="54900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4501224" y="996616"/>
            <a:ext cx="2102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127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501224" y="1508683"/>
            <a:ext cx="210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High-Value Alerts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501224" y="1746428"/>
            <a:ext cx="2102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order_value &gt; £990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721546" y="937175"/>
            <a:ext cx="2102400" cy="1115700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4CAF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6721704" y="889188"/>
            <a:ext cx="2102100" cy="54900"/>
          </a:xfrm>
          <a:prstGeom prst="rect">
            <a:avLst/>
          </a:prstGeom>
          <a:solidFill>
            <a:srgbClr val="4CA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6721546" y="1028617"/>
            <a:ext cx="2102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4CAF82"/>
                </a:solidFill>
                <a:latin typeface="Calibri"/>
                <a:ea typeface="Calibri"/>
                <a:cs typeface="Calibri"/>
                <a:sym typeface="Calibri"/>
              </a:rPr>
              <a:t>£407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721546" y="1540690"/>
            <a:ext cx="210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Order 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6721546" y="1778438"/>
            <a:ext cx="210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median £384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256032" y="2121408"/>
            <a:ext cx="4169664" cy="877824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256032" y="2121408"/>
            <a:ext cx="54864" cy="87782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384048" y="2157984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Sales by Country — 31x Revenue Gap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84048" y="2414016"/>
            <a:ext cx="38953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USA leads at £3.71M (5,981 orders, avg £621). UK second at £2.16M. India at the bottom</a:t>
            </a:r>
            <a:r>
              <a:rPr lang="en-US" sz="800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718304" y="2121408"/>
            <a:ext cx="4169664" cy="877824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4718304" y="2121408"/>
            <a:ext cx="54864" cy="877824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4846320" y="2157984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High-Value Alerts — 127 Orders &gt; £990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846320" y="2414016"/>
            <a:ext cx="38953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 UPI leads with 55 alerts, Credit Card 26, Debit Card 24. Crypto has 13</a:t>
            </a:r>
            <a:r>
              <a:rPr lang="en-US" sz="800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 payments breached the Upper limit.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256032" y="3090672"/>
            <a:ext cx="4169664" cy="877824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4CAF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256032" y="3090672"/>
            <a:ext cx="54864" cy="877824"/>
          </a:xfrm>
          <a:prstGeom prst="rect">
            <a:avLst/>
          </a:prstGeom>
          <a:solidFill>
            <a:srgbClr val="4CA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384048" y="3127248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8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CAF82"/>
                </a:solidFill>
                <a:latin typeface="Calibri"/>
                <a:ea typeface="Calibri"/>
                <a:cs typeface="Calibri"/>
                <a:sym typeface="Calibri"/>
              </a:rPr>
              <a:t>Shipping Delays — Fulfilment Problem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384048" y="3383280"/>
            <a:ext cx="38953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37.7% of orders (9,415) fall in the Slow bucket (7-10 days). Only 8.4% are same-day. Standard (4-6 days) is 27.6% and Fast (1-3 days) 26.3%.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718304" y="3090672"/>
            <a:ext cx="4169664" cy="877824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4718304" y="3090672"/>
            <a:ext cx="54864" cy="87782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4846320" y="3127248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Payment Distribution — UPI Dominant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846320" y="3383280"/>
            <a:ext cx="38953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UPI accounts for 42.9% of all transactions (10,714). Credit Card 23.8%, Debit Card 19%, PayPal 9.5%, Crypto 4.8%.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56032" y="4059936"/>
            <a:ext cx="4169664" cy="877824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256032" y="4059936"/>
            <a:ext cx="54864" cy="87782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384048" y="4096512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Lifetime Value Tiers — Elite Majority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384048" y="4352544"/>
            <a:ext cx="38953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the Elite tier (&gt;£15k lifetime value) has the most customers: 5,159. Starter tier (&lt;£2k) has the fewest: 2,038. This means the customer base skews toward high-value, long-term customers — a healthy retention signal for the business.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"/>
          <p:cNvSpPr/>
          <p:nvPr/>
        </p:nvSpPr>
        <p:spPr>
          <a:xfrm>
            <a:off x="320040" y="164592"/>
            <a:ext cx="8503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320090" y="771092"/>
            <a:ext cx="850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320090" y="1349905"/>
            <a:ext cx="850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❖"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Implementing IAM permissions across services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320090" y="1928692"/>
            <a:ext cx="850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❖"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Implementing Star Schema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20090" y="2453792"/>
            <a:ext cx="850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❖"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 logout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"/>
          <p:cNvSpPr/>
          <p:nvPr/>
        </p:nvSpPr>
        <p:spPr>
          <a:xfrm>
            <a:off x="320040" y="164592"/>
            <a:ext cx="850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Enhancement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320090" y="771092"/>
            <a:ext cx="850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320090" y="1349905"/>
            <a:ext cx="850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❖"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Airflow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Orchestration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320090" y="1928692"/>
            <a:ext cx="850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❖"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CI/CD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16465" y="2507492"/>
            <a:ext cx="850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❖"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16465" y="2507492"/>
            <a:ext cx="850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❖"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16465" y="3086292"/>
            <a:ext cx="8503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❖"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Quality- Great Expectation to be implemented in Silver layer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"/>
          <p:cNvSpPr/>
          <p:nvPr/>
        </p:nvSpPr>
        <p:spPr>
          <a:xfrm>
            <a:off x="320040" y="164592"/>
            <a:ext cx="8503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 &amp; Key Benefits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320040" y="56692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What this AWS architecture delivers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274320" y="914400"/>
            <a:ext cx="2743200" cy="1883664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402336" y="932688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Near </a:t>
            </a: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Real-time + Batch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402336" y="1389888"/>
            <a:ext cx="248716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API Gateway → Kinesis → Lambda → DynamoDB handles near live transactions.</a:t>
            </a:r>
            <a:endParaRPr b="0" i="0" sz="950" u="none" cap="none" strike="noStrike">
              <a:solidFill>
                <a:srgbClr val="7A9B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7A9B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 Bronze → Silver → Gold → Redshift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3218688" y="914400"/>
            <a:ext cx="2743200" cy="1883664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3218688" y="914400"/>
            <a:ext cx="274320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3346704" y="932688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 Quality by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3346704" y="1389888"/>
            <a:ext cx="248716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Bronze (raw CSV) → Silver (Parquet, clean) → Gold (star schema Parquet) progression. Raw data preserved at every layer. Redshift loaded from Gold — always clean.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6163056" y="914400"/>
            <a:ext cx="2743200" cy="1883664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6163056" y="914400"/>
            <a:ext cx="2743200" cy="384048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6291072" y="932688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Instant Alerting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6291072" y="1389888"/>
            <a:ext cx="248716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127 high-value orders (&gt; £990) auto-detected from 25,000. SQS + Lambda + SNS delivers email within seconds. DLQ ensures zero silent failures.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274320" y="2980944"/>
            <a:ext cx="2743200" cy="1883664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4CAF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274320" y="2980944"/>
            <a:ext cx="2743200" cy="384048"/>
          </a:xfrm>
          <a:prstGeom prst="rect">
            <a:avLst/>
          </a:prstGeom>
          <a:solidFill>
            <a:srgbClr val="4CA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402336" y="2999232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BI-Ready Insights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402336" y="3456432"/>
            <a:ext cx="248716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7 QuickSight MVs— each view tells a distinct business story.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3218688" y="2980944"/>
            <a:ext cx="2743200" cy="1883664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3218688" y="2980944"/>
            <a:ext cx="2743200" cy="38404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3346704" y="2999232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Fault Tolerant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3346704" y="3456432"/>
            <a:ext cx="248716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DLQ for failed alerts. DynamoDB Streams 24hr replay window.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6163056" y="2980944"/>
            <a:ext cx="2743200" cy="1883664"/>
          </a:xfrm>
          <a:prstGeom prst="rect">
            <a:avLst/>
          </a:prstGeom>
          <a:solidFill>
            <a:srgbClr val="16284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6163056" y="2980944"/>
            <a:ext cx="274320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6291072" y="2999232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Fully Serverless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6291072" y="3456432"/>
            <a:ext cx="248716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API Gateway, Lambda, DynamoDB, Glue, Redshift Serverless, QuickSight SPICE — zero servers to manage. All auto-scaling. Run the pipeline once and REFRESH MVs to refresh insights.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62840"/>
          </a:solidFill>
          <a:ln cap="flat" cmpd="sng" w="12700">
            <a:solidFill>
              <a:srgbClr val="16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7498080" y="3474720"/>
            <a:ext cx="1828800" cy="1828800"/>
          </a:xfrm>
          <a:prstGeom prst="ellipse">
            <a:avLst/>
          </a:prstGeom>
          <a:solidFill>
            <a:srgbClr val="162840"/>
          </a:solidFill>
          <a:ln cap="flat" cmpd="sng" w="12700">
            <a:solidFill>
              <a:srgbClr val="16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457200" y="109728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457200" y="192024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4"/>
          <p:cNvCxnSpPr/>
          <p:nvPr/>
        </p:nvCxnSpPr>
        <p:spPr>
          <a:xfrm>
            <a:off x="457200" y="2697480"/>
            <a:ext cx="4572000" cy="0"/>
          </a:xfrm>
          <a:prstGeom prst="straightConnector1">
            <a:avLst/>
          </a:prstGeom>
          <a:noFill/>
          <a:ln cap="flat" cmpd="sng" w="1905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